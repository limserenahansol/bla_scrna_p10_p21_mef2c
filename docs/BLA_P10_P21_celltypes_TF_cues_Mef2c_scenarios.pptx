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3000" b="1">
                <a:solidFill>
                  <a:srgbClr val="1F2A44"/>
                </a:solidFill>
              </a:rPr>
              <a:t>Basolateral amygdala at P10: cell types, P10 vs P21, and candidate cues for Mef2c-cKO ectopic cortical axons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56616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555B66"/>
                </a:solidFill>
              </a:rPr>
              <a:t>Hansol Lim - BLA 10x scRNA-seq (P10 n=1, P21 n=2), 13,625 cells after QC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555B66"/>
                </a:solidFill>
              </a:rPr>
              <a:t>Reference: Allen Whole Mouse Brain atlas (Yao et al. 2023), amygdala ROIs CTXsp + sAMY (199k adult cells)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555B66"/>
                </a:solidFill>
              </a:rPr>
              <a:t>October 2026 - first-pass analysis for discussion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400" b="1">
                <a:solidFill>
                  <a:srgbClr val="1F2A44"/>
                </a:solidFill>
              </a:rPr>
              <a:t>The question and what this data can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577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1F2A44"/>
                </a:solidFill>
              </a:rPr>
              <a:t>Collaborator's finding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F2A44"/>
                </a:solidFill>
              </a:rPr>
              <a:t>• Mef2c cKO: L2/3 callosal axons lose contralateral S1/S2 targeting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F2A44"/>
                </a:solidFill>
              </a:rPr>
              <a:t>• Ectopic axons appear around BLA / FoxP2+ ITCs from ~P5, increasing and branching at P8-P10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F2A44"/>
                </a:solidFill>
              </a:rPr>
              <a:t>• Source neurons may not be in SSc - still open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F2A44"/>
                </a:solidFill>
              </a:rPr>
              <a:t>Strategy: amygdala first, then back to cortex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F2A44"/>
                </a:solidFill>
              </a:rPr>
              <a:t>• Which BLA/ITC cell populations exist at P10?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F2A44"/>
                </a:solidFill>
              </a:rPr>
              <a:t>• Which of them express guidance / adhesion cues during P5-P10?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F2A44"/>
                </a:solidFill>
              </a:rPr>
              <a:t>• Which cortical neurons carry the matching axon-side partners?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F2A44"/>
                </a:solidFill>
              </a:rPr>
              <a:t>• Where is Mef2c itself expressed in the amygdala?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28016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1F2A44"/>
                </a:solidFill>
              </a:rPr>
              <a:t>Data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F2A44"/>
                </a:solidFill>
              </a:rPr>
              <a:t>• BLA dissections, 10x 3' v3 (Klein lab, processed by T. Straub, mm10-2020-A)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F2A44"/>
                </a:solidFill>
              </a:rPr>
              <a:t>• P10s1: 6,037 cells | P21s1: 2,507 | P21s2: 5,081 (after QC)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F2A44"/>
                </a:solidFill>
              </a:rPr>
              <a:t>• 3,079 cells removed: doublets (two-lineage co-expression) and low-quality clusters, logged per sample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F2A44"/>
                </a:solidFill>
              </a:rPr>
              <a:t>• Labels from marker genes plus correlation mapping to Allen subclasses / supertypes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F2A44"/>
                </a:solidFill>
              </a:rPr>
              <a:t>Caveats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F2A44"/>
                </a:solidFill>
              </a:rPr>
              <a:t>• P10 is ONE animal; P10 vs P21 differences include dissection and batch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F2A44"/>
                </a:solidFill>
              </a:rPr>
              <a:t>• The dissection includes CeA / MeA / BMA neighbours (expected for a BLA punch)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F2A44"/>
                </a:solidFill>
              </a:rPr>
              <a:t>• Allen reference and the cortex panel are ADULT; P10 neurons are immature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400" b="1">
                <a:solidFill>
                  <a:srgbClr val="1F2A44"/>
                </a:solidFill>
              </a:rPr>
              <a:t>35 cell types in P10 amygdala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555B66"/>
                </a:solidFill>
              </a:rPr>
              <a:t>BLA glutamatergic (1-10), ITC / CeA / MeA GABA (11-16), interneurons (17-25), glia and vasculature (26-35)</a:t>
            </a:r>
          </a:p>
        </p:txBody>
      </p:sp>
      <p:pic>
        <p:nvPicPr>
          <p:cNvPr id="4" name="Picture 3" descr="F1_P10_umap_cell_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277" y="1234440"/>
            <a:ext cx="8390964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400" b="1">
                <a:solidFill>
                  <a:srgbClr val="1F2A44"/>
                </a:solidFill>
              </a:rPr>
              <a:t>Labels agree with known amygdala markers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555B66"/>
                </a:solidFill>
              </a:rPr>
              <a:t>Dot size = % cells, colour = scaled mean expression, P10 cells only</a:t>
            </a:r>
          </a:p>
        </p:txBody>
      </p:sp>
      <p:pic>
        <p:nvPicPr>
          <p:cNvPr id="4" name="Picture 3" descr="F2_P10_marker_dot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79" y="1395804"/>
            <a:ext cx="8778240" cy="51636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052560" y="1280160"/>
            <a:ext cx="3017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50" b="1">
                <a:solidFill>
                  <a:srgbClr val="1F2A44"/>
                </a:solidFill>
              </a:rPr>
              <a:t>Allen mapping (cells agreeing)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1F2A44"/>
                </a:solidFill>
              </a:rPr>
              <a:t>• Rspo2/Etv1 BLA Glut -&gt; 014 LA-BLA-BMA-PA Glut (92%)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1F2A44"/>
                </a:solidFill>
              </a:rPr>
              <a:t>• ITC (a) / (b) -&gt; 064 STR-PAL Chst9 Gaba (91% / 80%); Foxp2+ Tshz1+ Pbx3+ Meis2+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1F2A44"/>
                </a:solidFill>
              </a:rPr>
              <a:t>• D2 SPN-like -&gt; 062 STR D2 Gaba (83%)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1F2A44"/>
                </a:solidFill>
              </a:rPr>
              <a:t>• Vip -&gt; 046 Vip Gaba (93%); Pvalb chandelier -&gt; 051 (72%)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1F2A44"/>
                </a:solidFill>
              </a:rPr>
              <a:t>• OPC 99%, Microglia 85%, Ependymal 87%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1F2A44"/>
                </a:solidFill>
              </a:rPr>
              <a:t>Other immature P10 glut types partly map to adult DG / IMN types; their labels rest on markers (next slide)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400" b="1">
                <a:solidFill>
                  <a:srgbClr val="1F2A44"/>
                </a:solidFill>
              </a:rPr>
              <a:t>BLA glutamatergic sub-populations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555B66"/>
                </a:solidFill>
              </a:rPr>
              <a:t>Re-clustered glutamatergic neurons only (P10 + P21, Harmony across samples)</a:t>
            </a:r>
          </a:p>
        </p:txBody>
      </p:sp>
      <p:pic>
        <p:nvPicPr>
          <p:cNvPr id="4" name="Picture 3" descr="F3_BLA_glut_sub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287" y="1188720"/>
            <a:ext cx="7606145" cy="5577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279" y="1280160"/>
            <a:ext cx="40233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1F2A44"/>
                </a:solidFill>
              </a:rPr>
              <a:t>Ten glutamatergic groups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F2A44"/>
                </a:solidFill>
              </a:rPr>
              <a:t>• Rspo2/Etv1: anterior-BLA Rspo2 population (Kim et al. 2016); also Cdh9, Sema3e, C1ql3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F2A44"/>
                </a:solidFill>
              </a:rPr>
              <a:t>• Tshz2/Satb1, Cdh8/Tshz3, Fgf10/Nrp1, Otof/Trhr, Vgll3/Prr16: Rspo2-negative BLA/LA groups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F2A44"/>
                </a:solidFill>
              </a:rPr>
              <a:t>• BMA Slc17a6/Zfp804b and PA/BMAp Esr1/Reln: neighbouring nuclei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F2A44"/>
                </a:solidFill>
              </a:rPr>
              <a:t>• Immature Igfbpl1/Epha3 (Dcx/Sox11+, still present at P21)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F2A44"/>
                </a:solidFill>
              </a:rPr>
              <a:t>• CLA/EPd-like Satb2/Nr4a2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F2A44"/>
                </a:solidFill>
              </a:rPr>
              <a:t>Ppp1r1b (posterior BLA) and Fezf2 are barely detected at P10/P21 in this dissection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F2A44"/>
                </a:solidFill>
              </a:rPr>
              <a:t>All groups are found at both ages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400" b="1">
                <a:solidFill>
                  <a:srgbClr val="1F2A44"/>
                </a:solidFill>
              </a:rPr>
              <a:t>BLA glutamatergic marker genes on the glutamatergic map</a:t>
            </a:r>
          </a:p>
        </p:txBody>
      </p:sp>
      <p:pic>
        <p:nvPicPr>
          <p:cNvPr id="3" name="Picture 2" descr="F3b_BLA_glut_feature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99" y="914400"/>
            <a:ext cx="585216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400" b="1">
                <a:solidFill>
                  <a:srgbClr val="1F2A44"/>
                </a:solidFill>
              </a:rPr>
              <a:t>Cell-type composition, P10 vs P21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555B66"/>
                </a:solidFill>
              </a:rPr>
              <a:t>Dots = individual samples. With one P10 animal, read these as observations, not tests.</a:t>
            </a:r>
          </a:p>
        </p:txBody>
      </p:sp>
      <p:pic>
        <p:nvPicPr>
          <p:cNvPr id="4" name="Picture 3" descr="F4_composition_P10_vs_P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63015"/>
            <a:ext cx="11795760" cy="44234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76072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F2A44"/>
                </a:solidFill>
              </a:rPr>
              <a:t>• Neuronal share falls from P10 to P21 (more glia are captured as the brain matures)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2A44"/>
                </a:solidFill>
              </a:rPr>
              <a:t>• CeA / D1 / D2 SPN-like fractions are higher at P10, most likely a wider medial punch; ITC fractions are higher at P21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400" b="1">
                <a:solidFill>
                  <a:srgbClr val="1F2A44"/>
                </a:solidFill>
              </a:rPr>
              <a:t>Gene-expression changes P10 -&gt; P21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555B66"/>
                </a:solidFill>
              </a:rPr>
              <a:t>Wilcoxon per cell type, kept only if the direction holds against BOTH P21 replicates (pseudo-bulk)</a:t>
            </a:r>
          </a:p>
        </p:txBody>
      </p:sp>
      <p:pic>
        <p:nvPicPr>
          <p:cNvPr id="4" name="Picture 3" descr="F5_DE_P10_vs_P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90" y="1234440"/>
            <a:ext cx="10492740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72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1F2A44"/>
                </a:solidFill>
              </a:rPr>
              <a:t>Most change is in BLA glutamatergic neurons. Shared P10-high genes include Ncam1, Sema6d, Cadm2, Grip1 and Pcdh7 (adhesion/guidance). P21-high genes include activity/maturation genes (Camk2a, Rasgrf1).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400" b="1">
                <a:solidFill>
                  <a:srgbClr val="1F2A44"/>
                </a:solidFill>
              </a:rPr>
              <a:t>Mef2c in the amygdala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555B66"/>
                </a:solidFill>
              </a:rPr>
              <a:t>Mef2c is high in most BLA glutamatergic groups, Pvalb chandelier cells and microglia; moderate in ITCs</a:t>
            </a:r>
          </a:p>
        </p:txBody>
      </p:sp>
      <p:pic>
        <p:nvPicPr>
          <p:cNvPr id="4" name="Picture 3" descr="F6a_Mef2_family_dot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79" y="1197863"/>
            <a:ext cx="5852160" cy="5559552"/>
          </a:xfrm>
          <a:prstGeom prst="rect">
            <a:avLst/>
          </a:prstGeom>
        </p:spPr>
      </p:pic>
      <p:pic>
        <p:nvPicPr>
          <p:cNvPr id="5" name="Picture 4" descr="F8_Mef2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88720"/>
            <a:ext cx="557784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400" b="1">
                <a:solidFill>
                  <a:srgbClr val="1F2A44"/>
                </a:solidFill>
              </a:rPr>
              <a:t>Transcription factors that define each P10 cell 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555B66"/>
                </a:solidFill>
              </a:rPr>
              <a:t>Top 3 TFs per cell type from 1,321 curated mouse TFs (AnimalTFDB-based list from the GPCR/TF panel project)</a:t>
            </a:r>
          </a:p>
        </p:txBody>
      </p:sp>
      <p:pic>
        <p:nvPicPr>
          <p:cNvPr id="4" name="Picture 3" descr="F6b_celltype_TFs_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56359"/>
            <a:ext cx="11795760" cy="52425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400" b="1">
                <a:solidFill>
                  <a:srgbClr val="1F2A44"/>
                </a:solidFill>
              </a:rPr>
              <a:t>Guidance / adhesion cues expressed by amygdala neurons at P10</a:t>
            </a:r>
          </a:p>
        </p:txBody>
      </p:sp>
      <p:pic>
        <p:nvPicPr>
          <p:cNvPr id="3" name="Picture 2" descr="F7a_guidance_cues_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79" y="1156234"/>
            <a:ext cx="11795760" cy="52770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400" b="1">
                <a:solidFill>
                  <a:srgbClr val="1F2A44"/>
                </a:solidFill>
              </a:rPr>
              <a:t>Candidate cues that mark ITC and BLA sub-populations at 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555B66"/>
                </a:solidFill>
              </a:rPr>
              <a:t>Circled = &gt;=30% of cells and &gt;=1.6x / +10 pp over the mean of the other amygdala neuron types</a:t>
            </a:r>
          </a:p>
        </p:txBody>
      </p:sp>
      <p:pic>
        <p:nvPicPr>
          <p:cNvPr id="4" name="Picture 3" descr="F7c_candidate_cues_ITC_BLAgl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229" y="1234440"/>
            <a:ext cx="11405061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76072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F2A44"/>
                </a:solidFill>
              </a:rPr>
              <a:t>• ITC: Kirrel3 (98%), Sdk2, Sema6d, Sema5b, Cdh18, Ntng1 (both ITC groups) - homophilic adhesion and semaphorin cues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2A44"/>
                </a:solidFill>
              </a:rPr>
              <a:t>• Rspo2/Etv1 BLA: C1ql3 (x10.7), Cdh8, Cdh9, Slit2, Sema3e. Other BLA groups: Cntn4/6, Ntng1/2, Slit3, Cdh13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400" b="1">
                <a:solidFill>
                  <a:srgbClr val="1F2A44"/>
                </a:solidFill>
              </a:rPr>
              <a:t>Back to cortex: which cortical neurons carry the matching partners?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555B66"/>
                </a:solidFill>
              </a:rPr>
              <a:t>Adult Allen Isocortex, all areas pooled - a ranking aid only, not P5-P10 and not area-specific</a:t>
            </a:r>
          </a:p>
        </p:txBody>
      </p:sp>
      <p:pic>
        <p:nvPicPr>
          <p:cNvPr id="4" name="Picture 3" descr="F9_cortex_receptors_adult_All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947" y="1234440"/>
            <a:ext cx="10927625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76072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0">
                <a:solidFill>
                  <a:srgbClr val="1F2A44"/>
                </a:solidFill>
              </a:rPr>
              <a:t>• Kirrel3 (homophilic, ITC 98%): 90% of L2/3 IT and 99% of L5 ET cells, but only 37-39% of L5/L6 IT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1F2A44"/>
                </a:solidFill>
              </a:rPr>
              <a:t>• Plxnd1 (receptor for Sema3e, made by Rspo2 BLA cells) is restricted to L4/5 IT (50%) and L2/3 IT (25%)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1F2A44"/>
                </a:solidFill>
              </a:rPr>
              <a:t>• Many partners (Robo1/2, Lrrc4c, Adgrb3, Nrxn2) are near-ubiquitous in adult cortex, so they cannot single out a source population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400" b="1">
                <a:solidFill>
                  <a:srgbClr val="1F2A44"/>
                </a:solidFill>
              </a:rPr>
              <a:t>Why would Mef2c-cKO axons over-innervate BLA? Six testable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555B66"/>
                </a:solidFill>
              </a:rPr>
              <a:t>Hypotheses for discussion; slides that follow test scenarios 2 and 3 with this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577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1F2A44"/>
                </a:solidFill>
              </a:rPr>
              <a:t>Axon / cortex side</a:t>
            </a:r>
          </a:p>
          <a:p>
            <a:pPr>
              <a:spcAft>
                <a:spcPts val="500"/>
              </a:spcAft>
            </a:pPr>
            <a:r>
              <a:rPr sz="1350" b="0">
                <a:solidFill>
                  <a:srgbClr val="1F2A44"/>
                </a:solidFill>
              </a:rPr>
              <a:t>• 1 Identity shift: Mef2c loss pushes L2/3-L4 IT neurons toward an amygdala-projecting IT programme (cf. Satb2 KO re-routing callosal axons; Alcamo 2008, Britanova 2008)</a:t>
            </a:r>
          </a:p>
          <a:p>
            <a:pPr>
              <a:spcAft>
                <a:spcPts val="500"/>
              </a:spcAft>
            </a:pPr>
            <a:r>
              <a:rPr sz="1350" b="0">
                <a:solidFill>
                  <a:srgbClr val="1F2A44"/>
                </a:solidFill>
              </a:rPr>
              <a:t>• 2 Failed refinement: MEF2 limits excitatory synapse number and drives activity-dependent elimination (Flavell 2006; Pfeiffer 2010; Tsai 2012, via Pcdh10), so transient branches persist and grow from P5</a:t>
            </a:r>
          </a:p>
          <a:p>
            <a:pPr>
              <a:spcAft>
                <a:spcPts val="500"/>
              </a:spcAft>
            </a:pPr>
            <a:r>
              <a:rPr sz="1350" b="0">
                <a:solidFill>
                  <a:srgbClr val="1F2A44"/>
                </a:solidFill>
              </a:rPr>
              <a:t>• 3 Receptor switch: Mef2c changes guidance receptors, e.g. Plxnd1 + Nrp1 turns Sema3e from repulsive to attractive (Chauvet 2007)</a:t>
            </a:r>
          </a:p>
          <a:p>
            <a:pPr>
              <a:spcAft>
                <a:spcPts val="500"/>
              </a:spcAft>
            </a:pPr>
            <a:r>
              <a:rPr sz="1350" b="0">
                <a:solidFill>
                  <a:srgbClr val="1F2A44"/>
                </a:solidFill>
              </a:rPr>
              <a:t>• 4 Route: axons that fail to enter contralateral S1/S2 run on along the external capsule, which borders LA/BLA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28016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1F2A44"/>
                </a:solidFill>
              </a:rPr>
              <a:t>Target side / labelling</a:t>
            </a:r>
          </a:p>
          <a:p>
            <a:pPr>
              <a:spcAft>
                <a:spcPts val="500"/>
              </a:spcAft>
            </a:pPr>
            <a:r>
              <a:rPr sz="1350" b="0">
                <a:solidFill>
                  <a:srgbClr val="1F2A44"/>
                </a:solidFill>
              </a:rPr>
              <a:t>• 5 Target change: an Emx1-type Cre also deletes Mef2c in BLA glutamatergic neurons (&gt;90% Mef2c+ in several groups here)</a:t>
            </a:r>
          </a:p>
          <a:p>
            <a:pPr>
              <a:spcAft>
                <a:spcPts val="500"/>
              </a:spcAft>
            </a:pPr>
            <a:r>
              <a:rPr sz="1350" b="0">
                <a:solidFill>
                  <a:srgbClr val="1F2A44"/>
                </a:solidFill>
              </a:rPr>
              <a:t>• 6 Compensation: losing the normal target frees axons and trophic competition, so they branch in an open neighbour</a:t>
            </a:r>
          </a:p>
          <a:p>
            <a:pPr>
              <a:spcAft>
                <a:spcPts val="500"/>
              </a:spcAft>
            </a:pPr>
            <a:r>
              <a:rPr sz="1350" b="0">
                <a:solidFill>
                  <a:srgbClr val="1F2A44"/>
                </a:solidFill>
              </a:rPr>
              <a:t>Tests that separate them</a:t>
            </a:r>
          </a:p>
          <a:p>
            <a:pPr>
              <a:spcAft>
                <a:spcPts val="500"/>
              </a:spcAft>
            </a:pPr>
            <a:r>
              <a:rPr sz="1350" b="0">
                <a:solidFill>
                  <a:srgbClr val="1F2A44"/>
                </a:solidFill>
              </a:rPr>
              <a:t>• Cre line; ipsi vs contra; time course of the route (P1-P5)</a:t>
            </a:r>
          </a:p>
          <a:p>
            <a:pPr>
              <a:spcAft>
                <a:spcPts val="500"/>
              </a:spcAft>
            </a:pPr>
            <a:r>
              <a:rPr sz="1350" b="0">
                <a:solidFill>
                  <a:srgbClr val="1F2A44"/>
                </a:solidFill>
              </a:rPr>
              <a:t>• Retrograde CTB from BLA in the cKO -&gt; source area and layer</a:t>
            </a:r>
          </a:p>
          <a:p>
            <a:pPr>
              <a:spcAft>
                <a:spcPts val="500"/>
              </a:spcAft>
            </a:pPr>
            <a:r>
              <a:rPr sz="1350" b="0">
                <a:solidFill>
                  <a:srgbClr val="1F2A44"/>
                </a:solidFill>
              </a:rPr>
              <a:t>• Identity markers (Satb2, Cux2, Rorb, Bcl11b, Lmo4) in labelled cKO neurons</a:t>
            </a:r>
          </a:p>
          <a:p>
            <a:pPr>
              <a:spcAft>
                <a:spcPts val="500"/>
              </a:spcAft>
            </a:pPr>
            <a:r>
              <a:rPr sz="1350" b="0">
                <a:solidFill>
                  <a:srgbClr val="1F2A44"/>
                </a:solidFill>
              </a:rPr>
              <a:t>• HCR at P5-P10 for the candidate cues (next slides)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400" b="1">
                <a:solidFill>
                  <a:srgbClr val="1F2A44"/>
                </a:solidFill>
              </a:rPr>
              <a:t>Scenario 2 - BLA at P10 is a pre-pruning, pro-adhesion window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555B66"/>
                </a:solidFill>
              </a:rPr>
              <a:t>Glial elimination machinery is still low at P10; target neurons express a P10-high adhesion programme</a:t>
            </a:r>
          </a:p>
        </p:txBody>
      </p:sp>
      <p:pic>
        <p:nvPicPr>
          <p:cNvPr id="4" name="Picture 3" descr="F10_scenario2_pruning_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55955"/>
            <a:ext cx="8412480" cy="54433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0" y="1280160"/>
            <a:ext cx="3291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50" b="1">
                <a:solidFill>
                  <a:srgbClr val="1F2A44"/>
                </a:solidFill>
              </a:rPr>
              <a:t>What the data show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1F2A44"/>
                </a:solidFill>
              </a:rPr>
              <a:t>• Astrocyte Mertk 30% (P10) vs 75-77% (P21); Megf10 15% vs 26-33%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1F2A44"/>
                </a:solidFill>
              </a:rPr>
              <a:t>• Microglial C1qa / C1qb 8% vs 17-37%; Trem2 10% vs 15-24%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1F2A44"/>
                </a:solidFill>
              </a:rPr>
              <a:t>• Neurons: Ncam1, Sema6d, Cadm2, Pcdh7 higher at P10; Homer1, Nr4a1 (MEF2 targets) higher at P21 in Rspo2 BLA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1F2A44"/>
                </a:solidFill>
              </a:rPr>
              <a:t>Reading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1F2A44"/>
                </a:solidFill>
              </a:rPr>
              <a:t>• Ectopic axons arriving at P5-P10 meet a target that is not yet pruning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1F2A44"/>
                </a:solidFill>
              </a:rPr>
              <a:t>• If Mef2c-null axons also lack their own MEF2-driven elimination, nothing removes them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1F2A44"/>
                </a:solidFill>
              </a:rPr>
              <a:t>Caveat: one P10 animal; glial capture rises with age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400" b="1">
                <a:solidFill>
                  <a:srgbClr val="1F2A44"/>
                </a:solidFill>
              </a:rPr>
              <a:t>Scenario 3 (BLA side) - which cues peak in the P5-P10 window?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555B66"/>
                </a:solidFill>
              </a:rPr>
              <a:t>* = same direction against both P21 samples</a:t>
            </a:r>
          </a:p>
        </p:txBody>
      </p:sp>
      <p:pic>
        <p:nvPicPr>
          <p:cNvPr id="4" name="Picture 3" descr="F11_scenario3_BLA_c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430" y="1188720"/>
            <a:ext cx="6042660" cy="5577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280160"/>
            <a:ext cx="44805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1F2A44"/>
                </a:solidFill>
              </a:rPr>
              <a:t>Higher at P10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F2A44"/>
                </a:solidFill>
              </a:rPr>
              <a:t>• Sema6d: BLA Tshz2/Satb1, Rspo2/Etv1, Cdh8/Tshz3, ITC (a)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F2A44"/>
                </a:solidFill>
              </a:rPr>
              <a:t>• Slit2: Fgf10/Nrp1, Vgll3/Prr16, Rspo2/Etv1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F2A44"/>
                </a:solidFill>
              </a:rPr>
              <a:t>• Nrp1 in several BLA groups; Cdh8 in Rspo2/Etv1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F2A44"/>
                </a:solidFill>
              </a:rPr>
              <a:t>• Kirrel3 in ITC (b) (already 98%)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F2A44"/>
                </a:solidFill>
              </a:rPr>
              <a:t>Higher at P21 (maturing synapses)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F2A44"/>
                </a:solidFill>
              </a:rPr>
              <a:t>• Cdh9, Cdh18, C1ql3, Sdk2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F2A44"/>
                </a:solidFill>
              </a:rPr>
              <a:t>Sema3e is made by Rspo2 BLA at both ages (38% at P10); its receptor Plxnd1 is barely expressed inside the amygdala, so Sema3e acts on incoming axons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400" b="1">
                <a:solidFill>
                  <a:srgbClr val="1F2A44"/>
                </a:solidFill>
              </a:rPr>
              <a:t>Scenario 3 (cortex side) - partner receptors by cortical area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555B66"/>
                </a:solidFill>
              </a:rPr>
              <a:t>Adult Allen WMB 10Xv2 (408,639 L2/3 + L4/5 IT cells). Numbers = % cells. * = area with known BLA input</a:t>
            </a:r>
          </a:p>
        </p:txBody>
      </p:sp>
      <p:pic>
        <p:nvPicPr>
          <p:cNvPr id="4" name="Picture 3" descr="F12_scenario3_cortex_by_ar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79011"/>
            <a:ext cx="11795760" cy="42085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57784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1F2A44"/>
                </a:solidFill>
              </a:rPr>
              <a:t>• Cdh9 (homophilic; marks Rspo2 BLA): L2/3 IT 61-64% in TEa-PERI-ECT and PL-ILA-ORB, 46% in AI, but only 9% in SSp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F2A44"/>
                </a:solidFill>
              </a:rPr>
              <a:t>• Sema3e response: SSp L4/5 IT is mostly Plxnd1+ Nrp1- (35%, repulsion-type), with only 1.6% Plxnd1+ Nrp1+ (attraction-type)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F2A44"/>
                </a:solidFill>
              </a:rPr>
              <a:t>• Inside IT neurons Mef2c co-varies weakly and negatively with Nrp1, Cdh9 and Cdh18 (r = -0.05 to -0.08). Hypothesis: Mef2c loss de-represses Nrp1 / Cdh9 in SSp neurons, switching them toward BLA-type partners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400" b="1">
                <a:solidFill>
                  <a:srgbClr val="1F2A44"/>
                </a:solidFill>
              </a:rPr>
              <a:t>Summary and suggested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66928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1F2A44"/>
                </a:solidFill>
              </a:rPr>
              <a:t>Cell populations to watch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2A44"/>
                </a:solidFill>
              </a:rPr>
              <a:t>• ITCs (Foxp2+ Tshz1+ Pbx3+), two groups: the FoxP2 cells next to the ectopic axons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2A44"/>
                </a:solidFill>
              </a:rPr>
              <a:t>• Rspo2/Etv1 BLA glutamatergic neurons, the most distinct BLA group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2A44"/>
                </a:solidFill>
              </a:rPr>
              <a:t>• Mef2c-high BLA groups (Tshz2/Satb1, Cdh8/Tshz3, Otof/Trhr): if the Cre also hits BLA neurons (e.g. Emx1 lineage), the target side changes too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2A44"/>
                </a:solidFill>
              </a:rPr>
              <a:t>Gene candidates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2A44"/>
                </a:solidFill>
              </a:rPr>
              <a:t>• ITC: Kirrel3, Sdk2, Sema6d, Sema5b, Cdh18, Ntng1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2A44"/>
                </a:solidFill>
              </a:rPr>
              <a:t>• BLA Rspo2: C1ql3, Cdh8, Cdh9, Sema3e, Slit2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2A44"/>
                </a:solidFill>
              </a:rPr>
              <a:t>• Cortex (test in cKO SSp L2/3-L4/5 at P5-P10): Nrp1 / Plxnd1 ratio, Cdh9, Kirrel3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097280"/>
            <a:ext cx="548640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1F2A44"/>
                </a:solidFill>
              </a:rPr>
              <a:t>Next steps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F2A44"/>
                </a:solidFill>
              </a:rPr>
              <a:t>• Confirm which Cre line drives the cKO: this decides whether BLA neurons also lose Mef2c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F2A44"/>
                </a:solidFill>
              </a:rPr>
              <a:t>• HCR / RNAscope at P5-P10: Foxp2 + Kirrel3 / Sdk2 / Sema6d, and Rspo2 + Sema3e / Cdh9, next to the ectopic axons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F2A44"/>
                </a:solidFill>
              </a:rPr>
              <a:t>• Cortex: check the candidate partners (Kirrel3, Plxnd1, Cdh8/9, Sdk2) in WT vs Mef2c-cKO L2/3 neurons at P5-P10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F2A44"/>
                </a:solidFill>
              </a:rPr>
              <a:t>• Retrograde tracing from BLA in the cKO to find the source area, then profile it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F2A44"/>
                </a:solidFill>
              </a:rPr>
              <a:t>• New P10 replicates (P10_1, P10_2, run P173) are being processed and will make P10 vs P21 testable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