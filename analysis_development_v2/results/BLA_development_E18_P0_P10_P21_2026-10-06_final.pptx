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d6174b8d24228" /><Relationship Type="http://schemas.openxmlformats.org/officeDocument/2006/relationships/extended-properties" Target="/docProps/app.xml" Id="Rbdbed2cf577e40b5" /><Relationship Type="http://schemas.openxmlformats.org/officeDocument/2006/relationships/officeDocument" Target="/ppt/presentation.xml" Id="Rb4097a0abe8049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2fb53187b43e9"/>
  </p:sldMasterIdLst>
  <p:notesMasterIdLst>
    <p:notesMasterId xmlns:r="http://schemas.openxmlformats.org/officeDocument/2006/relationships" r:id="Rabf468a487434bbd"/>
  </p:notesMasterIdLst>
  <p:sldIdLst>
    <p:sldId xmlns:r="http://schemas.openxmlformats.org/officeDocument/2006/relationships" id="256" r:id="Rc3f9d1e977d44363"/>
    <p:sldId xmlns:r="http://schemas.openxmlformats.org/officeDocument/2006/relationships" id="257" r:id="R156347cd956c46d9"/>
    <p:sldId xmlns:r="http://schemas.openxmlformats.org/officeDocument/2006/relationships" id="258" r:id="Rcb1d8c4939a14938"/>
    <p:sldId xmlns:r="http://schemas.openxmlformats.org/officeDocument/2006/relationships" id="259" r:id="Rfeadb658614541e9"/>
    <p:sldId xmlns:r="http://schemas.openxmlformats.org/officeDocument/2006/relationships" id="260" r:id="R469fb26cf079461b"/>
    <p:sldId xmlns:r="http://schemas.openxmlformats.org/officeDocument/2006/relationships" id="261" r:id="R78bce2fc31654b08"/>
    <p:sldId xmlns:r="http://schemas.openxmlformats.org/officeDocument/2006/relationships" id="262" r:id="Rc4f6d888e20d4213"/>
    <p:sldId xmlns:r="http://schemas.openxmlformats.org/officeDocument/2006/relationships" id="263" r:id="Raca19b074c054cb8"/>
    <p:sldId xmlns:r="http://schemas.openxmlformats.org/officeDocument/2006/relationships" id="264" r:id="Rc99c24b9d6da4799"/>
    <p:sldId xmlns:r="http://schemas.openxmlformats.org/officeDocument/2006/relationships" id="265" r:id="R6f4558a0109f4390"/>
    <p:sldId xmlns:r="http://schemas.openxmlformats.org/officeDocument/2006/relationships" id="266" r:id="R1fcdc105d1274e87"/>
    <p:sldId xmlns:r="http://schemas.openxmlformats.org/officeDocument/2006/relationships" id="267" r:id="Rbb7820ebb49840f9"/>
    <p:sldId xmlns:r="http://schemas.openxmlformats.org/officeDocument/2006/relationships" id="268" r:id="R041ab8db9f41437b"/>
    <p:sldId xmlns:r="http://schemas.openxmlformats.org/officeDocument/2006/relationships" id="269" r:id="Re994723b49e04bcf"/>
    <p:sldId xmlns:r="http://schemas.openxmlformats.org/officeDocument/2006/relationships" id="270" r:id="R24db067b0c5448ed"/>
    <p:sldId xmlns:r="http://schemas.openxmlformats.org/officeDocument/2006/relationships" id="271" r:id="R8b0488a290634c4e"/>
    <p:sldId xmlns:r="http://schemas.openxmlformats.org/officeDocument/2006/relationships" id="272" r:id="Rb537ca3b03c840ed"/>
    <p:sldId xmlns:r="http://schemas.openxmlformats.org/officeDocument/2006/relationships" id="273" r:id="R806e15cc0a6e40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661adba5a47e9" /><Relationship Type="http://schemas.openxmlformats.org/officeDocument/2006/relationships/slideMaster" Target="/ppt/slideMasters/slideMaster1.xml" Id="R34e2fb53187b43e9" /><Relationship Type="http://schemas.openxmlformats.org/officeDocument/2006/relationships/notesMaster" Target="/ppt/notesMasters/notesMaster1.xml" Id="Rabf468a487434bbd" /><Relationship Type="http://schemas.openxmlformats.org/officeDocument/2006/relationships/presProps" Target="/ppt/presProps.xml" Id="R5643f53e9b0a4beb" /><Relationship Type="http://schemas.openxmlformats.org/officeDocument/2006/relationships/tableStyles" Target="/ppt/tableStyles.xml" Id="R4353a7e894f84d97" /><Relationship Type="http://schemas.openxmlformats.org/officeDocument/2006/relationships/slide" Target="/ppt/slides/slide1.xml" Id="Rc3f9d1e977d44363" /><Relationship Type="http://schemas.openxmlformats.org/officeDocument/2006/relationships/slide" Target="/ppt/slides/slide2.xml" Id="R156347cd956c46d9" /><Relationship Type="http://schemas.openxmlformats.org/officeDocument/2006/relationships/slide" Target="/ppt/slides/slide3.xml" Id="Rcb1d8c4939a14938" /><Relationship Type="http://schemas.openxmlformats.org/officeDocument/2006/relationships/slide" Target="/ppt/slides/slide4.xml" Id="Rfeadb658614541e9" /><Relationship Type="http://schemas.openxmlformats.org/officeDocument/2006/relationships/slide" Target="/ppt/slides/slide5.xml" Id="R469fb26cf079461b" /><Relationship Type="http://schemas.openxmlformats.org/officeDocument/2006/relationships/slide" Target="/ppt/slides/slide6.xml" Id="R78bce2fc31654b08" /><Relationship Type="http://schemas.openxmlformats.org/officeDocument/2006/relationships/slide" Target="/ppt/slides/slide7.xml" Id="Rc4f6d888e20d4213" /><Relationship Type="http://schemas.openxmlformats.org/officeDocument/2006/relationships/slide" Target="/ppt/slides/slide8.xml" Id="Raca19b074c054cb8" /><Relationship Type="http://schemas.openxmlformats.org/officeDocument/2006/relationships/slide" Target="/ppt/slides/slide9.xml" Id="Rc99c24b9d6da4799" /><Relationship Type="http://schemas.openxmlformats.org/officeDocument/2006/relationships/slide" Target="/ppt/slides/slide10.xml" Id="R6f4558a0109f4390" /><Relationship Type="http://schemas.openxmlformats.org/officeDocument/2006/relationships/slide" Target="/ppt/slides/slide11.xml" Id="R1fcdc105d1274e87" /><Relationship Type="http://schemas.openxmlformats.org/officeDocument/2006/relationships/slide" Target="/ppt/slides/slide12.xml" Id="Rbb7820ebb49840f9" /><Relationship Type="http://schemas.openxmlformats.org/officeDocument/2006/relationships/slide" Target="/ppt/slides/slide13.xml" Id="R041ab8db9f41437b" /><Relationship Type="http://schemas.openxmlformats.org/officeDocument/2006/relationships/slide" Target="/ppt/slides/slide14.xml" Id="Re994723b49e04bcf" /><Relationship Type="http://schemas.openxmlformats.org/officeDocument/2006/relationships/slide" Target="/ppt/slides/slide15.xml" Id="R24db067b0c5448ed" /><Relationship Type="http://schemas.openxmlformats.org/officeDocument/2006/relationships/slide" Target="/ppt/slides/slide16.xml" Id="R8b0488a290634c4e" /><Relationship Type="http://schemas.openxmlformats.org/officeDocument/2006/relationships/slide" Target="/ppt/slides/slide17.xml" Id="Rb537ca3b03c840ed" /><Relationship Type="http://schemas.openxmlformats.org/officeDocument/2006/relationships/slide" Target="/ppt/slides/slide18.xml" Id="R806e15cc0a6e40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71f8e1b30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d6a8907914dee" /><Relationship Type="http://schemas.openxmlformats.org/officeDocument/2006/relationships/notesMaster" Target="/ppt/notesMasters/notesMaster1.xml" Id="R42448c377d3340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d8d9939604879" /><Relationship Type="http://schemas.openxmlformats.org/officeDocument/2006/relationships/notesMaster" Target="/ppt/notesMasters/notesMaster1.xml" Id="Re3012a68d9c44c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8abb3353d34e94" /><Relationship Type="http://schemas.openxmlformats.org/officeDocument/2006/relationships/notesMaster" Target="/ppt/notesMasters/notesMaster1.xml" Id="R269ede254f5b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e246ff38164a01" /><Relationship Type="http://schemas.openxmlformats.org/officeDocument/2006/relationships/notesMaster" Target="/ppt/notesMasters/notesMaster1.xml" Id="R1daadd4fb97348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47446d8ee5440c" /><Relationship Type="http://schemas.openxmlformats.org/officeDocument/2006/relationships/notesMaster" Target="/ppt/notesMasters/notesMaster1.xml" Id="Rb8960d2e4ac445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2bb83cfe104f09" /><Relationship Type="http://schemas.openxmlformats.org/officeDocument/2006/relationships/notesMaster" Target="/ppt/notesMasters/notesMaster1.xml" Id="Rd29afc21fd8e42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44aa4cf2a4193" /><Relationship Type="http://schemas.openxmlformats.org/officeDocument/2006/relationships/notesMaster" Target="/ppt/notesMasters/notesMaster1.xml" Id="R0b1de22765dd43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7289847cc24184" /><Relationship Type="http://schemas.openxmlformats.org/officeDocument/2006/relationships/notesMaster" Target="/ppt/notesMasters/notesMaster1.xml" Id="R0a3b2b936d0943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3d42cde0f48b7" /><Relationship Type="http://schemas.openxmlformats.org/officeDocument/2006/relationships/notesMaster" Target="/ppt/notesMasters/notesMaster1.xml" Id="Rf3e8f6589dc04e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c2f9a4ba5b48d2" /><Relationship Type="http://schemas.openxmlformats.org/officeDocument/2006/relationships/notesMaster" Target="/ppt/notesMasters/notesMaster1.xml" Id="R84b349079b2841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1b3e62566a432d" /><Relationship Type="http://schemas.openxmlformats.org/officeDocument/2006/relationships/notesMaster" Target="/ppt/notesMasters/notesMaster1.xml" Id="R8b03b74f5e4c47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804e8ba7ab4852" /><Relationship Type="http://schemas.openxmlformats.org/officeDocument/2006/relationships/notesMaster" Target="/ppt/notesMasters/notesMaster1.xml" Id="R327c60d9492e4f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670fe0f1d34a0e" /><Relationship Type="http://schemas.openxmlformats.org/officeDocument/2006/relationships/notesMaster" Target="/ppt/notesMasters/notesMaster1.xml" Id="R6418c454321f43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fdf70190304fe0" /><Relationship Type="http://schemas.openxmlformats.org/officeDocument/2006/relationships/notesMaster" Target="/ppt/notesMasters/notesMaster1.xml" Id="Rfc284706670d4b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0dbb91e93c48cc" /><Relationship Type="http://schemas.openxmlformats.org/officeDocument/2006/relationships/notesMaster" Target="/ppt/notesMasters/notesMaster1.xml" Id="R27b18825fa9e4e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cf9959f93e43ee" /><Relationship Type="http://schemas.openxmlformats.org/officeDocument/2006/relationships/notesMaster" Target="/ppt/notesMasters/notesMaster1.xml" Id="Rf7d5e9e30c1e4b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6f3481b35d447e" /><Relationship Type="http://schemas.openxmlformats.org/officeDocument/2006/relationships/notesMaster" Target="/ppt/notesMasters/notesMaster1.xml" Id="Reef103a9b58245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8bd90d223f4477" /><Relationship Type="http://schemas.openxmlformats.org/officeDocument/2006/relationships/notesMaster" Target="/ppt/notesMasters/notesMaster1.xml" Id="R9e2d43008f2b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input_manifest.csv, sample_qc_summary.csv, doublet_summary.csv. No labelled KO/WT data, animal IDs, or connectivity measurements. All experimental units are libraries, not cells.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sample_qc_summary.csv, doublet_summary.csv. New samples: E18_1 P188 SI-GA-F3; E18_2 P189 SI-GA-F4; P0_1/P0_2 P165 SI-GA-E6/E9; P0_3 P188 SI-GA-F2; P10_1/P10_2 P173 SI-GA-E10/E11. Original new object 32285 genes x156727 barcodes; counts-only. P56 old samples are excluded. Animal independence and reference build are undocumented.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QC summaries. Main QC &gt;=500 genes, &gt;=1000 UMIs, mito&lt;=20%. scDblFinder per library; dbr=.08,dbr.sd=1. Doublets are putative. P0 low-count barcodes cannot be proven empty droplets from this supplied object alone. https://www.bioconductor.org/packages/release/bioc/vignettes/scDblFinder/inst/doc/scDblFinder.html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V2_F02 and cell_metadata.csv. Embedding only: shared-gene RNA log normalization, HVG3000 excluding candidates/ribo/mito, PCA30, Harmony source theta1/lambda1, UMAP30/min_dist.3/cosine/seed1062026. Neither map is ground truth. RNA integrity hashes unchanged. Source correction does not fully mix old/new P10.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V2_F03, embedding_validation.csv. P10 balanced-source neighbor mixing rises but remains far below balanced random mixing. Do not interpret a source-specific island as maturation or a new subtype.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population_composition_per_library.csv, primary_singlets. Minor classes grouped only in this chart; full CSV retains all classes. ITC-like and Rspo2-positive subsets are nested and not added to broad denominators. No independent animal 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annotation_validation_per_sample.csv computed before doublet exclusion. Training1457 and heldout1457 reference genes exclude marker/candidate genes. Previous-reference predictions inherit v1 uncertainty. Leave-one-old-library-out label agreement84.6/90.5/90.5% is consistency, not independent truth. Adult reference Yao2023: https://www.nature.com/articles/s41586-023-06812-z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sample_population_expression.csv.gz, primary singlets, n&gt;=30 per group. CPM uses total shared-gene pseudobulk UMIs. No per-cell p-values or KO inference. MEF2C activity/binding is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TF_expression_per_library.csv.gz, supplied mouse_TF_list_1321.csv. Figure shows prespecified developmental/lineage TFs. Color is log2(mean library CPM+.5), size is expected detection at1000UMIs. Marker TFs such as Foxp2/Etv1 are annotation anchors.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V2_F06 and candidate_expression_per_library.csv. Equal library weights, groups&gt;=30 cells, common genes only. Rspo2-positive subset selected by Rspo2 detection; ITC-like tentative. Transcript detection is not receptor stoichiometry or attraction/repulsion. Chauvet2007 primary: https://doi.org/10.1016/j.neuron.2007.10.019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V2_F07, raw pseudobulk CPM. C1qa/C1qb/Cx3cr1/P2ry12 are also annotation markers: expression in microglia is not independent cell-type enrichment proof. Flavell2006 activity-dependent MEF2 regulation in hippocampal synapses https://pubmed.ncbi.nlm.nih.gov/16484497/. No axonal pruning measurement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prior results/tables/C01_cortex_glut_receptor_pct_adult_Allen.csv. Adult Allen atlas, not P10 or KO cortex. Detection does not indicate co-localized receptor complexes. Martin2015 Kirrel3 hippocampal targeting https://elifesciences.org/articles/09395.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candidate_P10_P21_descriptive_effects.csv and candidate_source_QC_sensitivity.csv. Gray means mixed directions or incomplete support; teal requires agreement across old/new sources,20/15% mito,inclusion/exclusion of putative doublets,and every library pair. No cell-level significance. Prior mean-log differences are not fold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candidate_P10_P21_descriptive_effects.csv and candidate_source_QC_sensitivity.csv. Log2(CPM ratio) P10/P21, separately old/new P10. Consistency means all source/mito/doublet/library-pair directions agree, not significance or causality. All candidates, including failures, remain in CSVs.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Hypotheses only. MEF2 family regulation is not equivalent to Mef2c-specific cortical axon pruning. Harrington2016 context-dependent cortical outcomes https://pmc.ncbi.nlm.nih.gov/articles/PMC5094851/; Flavell2006 https://pubmed.ncbi.nlm.nih.gov/16484497/; Chauvet2007 doi10.1016/j.neuron.2007.10.019; Martin2015 https://elifesciences.org/articles/09395.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proposals, not observed results. No new perturbation is inferred from these transcriptomes. Biological replicates and confirmed genotype are required. ITC-like / Rspo2-positive hypotheses must be spatially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ANALYSIS_PLAN.md, METHODS.md, README.md, scripts/run_pipeline.R. Package versions in results/validation/. Public/private sharing choice must be respected; large data are release assets only if authorized. Analysis works independently of presentation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reports exploratory analysis, not validated biological causality. Exact sample-level values, failed baselines and sensitivity are supplied. Missing animal metadata/reference/Cell Ranger background prevent definitive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52661a8aa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959d2315e44c6" /><Relationship Type="http://schemas.openxmlformats.org/officeDocument/2006/relationships/slideLayout" Target="/ppt/slideLayouts/slideLayout1.xml" Id="R3b7832b68865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832b68865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4bd4ca450434f" /><Relationship Type="http://schemas.openxmlformats.org/officeDocument/2006/relationships/notesSlide" Target="/ppt/notesSlides/notesSlide1.xml" Id="Rebf44f6e508f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a574b5e6430f" /><Relationship Type="http://schemas.openxmlformats.org/officeDocument/2006/relationships/notesSlide" Target="/ppt/notesSlides/notesSlide2.xml" Id="R75f5d40bbd29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b33dc70854755" /><Relationship Type="http://schemas.openxmlformats.org/officeDocument/2006/relationships/chart" Target="/ppt/slides/charts/chart1.xml" Id="R4d91fea51b9a461d" /><Relationship Type="http://schemas.openxmlformats.org/officeDocument/2006/relationships/notesSlide" Target="/ppt/notesSlides/notesSlide3.xml" Id="R1558129432db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b0c7d53944ecc" /><Relationship Type="http://schemas.openxmlformats.org/officeDocument/2006/relationships/image" Target="/ppt/media/image.png" Id="R811079ae1b8c4c80" /><Relationship Type="http://schemas.openxmlformats.org/officeDocument/2006/relationships/notesSlide" Target="/ppt/notesSlides/notesSlide4.xml" Id="Rf0ad3797e79646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1ae694de64ef3" /><Relationship Type="http://schemas.openxmlformats.org/officeDocument/2006/relationships/image" Target="/ppt/media/image2.png" Id="R8b359fe600cc4ef7" /><Relationship Type="http://schemas.openxmlformats.org/officeDocument/2006/relationships/notesSlide" Target="/ppt/notesSlides/notesSlide5.xml" Id="R96bc458a967841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0815bf4449d0" /><Relationship Type="http://schemas.openxmlformats.org/officeDocument/2006/relationships/chart" Target="/ppt/slides/charts/chart2.xml" Id="Rd0f01d729328408a" /><Relationship Type="http://schemas.openxmlformats.org/officeDocument/2006/relationships/notesSlide" Target="/ppt/notesSlides/notesSlide6.xml" Id="Rd95bce8c0eb3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19ca14a9d436e" /><Relationship Type="http://schemas.openxmlformats.org/officeDocument/2006/relationships/notesSlide" Target="/ppt/notesSlides/notesSlide7.xml" Id="R937104da9a7d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ada78b8574039" /><Relationship Type="http://schemas.openxmlformats.org/officeDocument/2006/relationships/chart" Target="/ppt/slides/charts/chart3.xml" Id="Rc86ccd6ef1b649bd" /><Relationship Type="http://schemas.openxmlformats.org/officeDocument/2006/relationships/chart" Target="/ppt/slides/charts/chart4.xml" Id="R9cc579aab35949ee" /><Relationship Type="http://schemas.openxmlformats.org/officeDocument/2006/relationships/chart" Target="/ppt/slides/charts/chart5.xml" Id="R812d6cfe7b8d47a4" /><Relationship Type="http://schemas.openxmlformats.org/officeDocument/2006/relationships/notesSlide" Target="/ppt/notesSlides/notesSlide8.xml" Id="Ra654efb82e754c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85399fe7d4eaa" /><Relationship Type="http://schemas.openxmlformats.org/officeDocument/2006/relationships/image" Target="/ppt/media/image3.png" Id="R37cc299fb6614d39" /><Relationship Type="http://schemas.openxmlformats.org/officeDocument/2006/relationships/notesSlide" Target="/ppt/notesSlides/notesSlide9.xml" Id="R9af75b78d971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28a37b8d4646" /><Relationship Type="http://schemas.openxmlformats.org/officeDocument/2006/relationships/image" Target="/ppt/media/image4.png" Id="R4c71c6c504674330" /><Relationship Type="http://schemas.openxmlformats.org/officeDocument/2006/relationships/notesSlide" Target="/ppt/notesSlides/notesSlide10.xml" Id="R440ac988d3bc49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4712206a4708" /><Relationship Type="http://schemas.openxmlformats.org/officeDocument/2006/relationships/image" Target="/ppt/media/image5.png" Id="R403a8df6b3c14073" /><Relationship Type="http://schemas.openxmlformats.org/officeDocument/2006/relationships/notesSlide" Target="/ppt/notesSlides/notesSlide11.xml" Id="Ra2d272343ad84a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c206fe7c4848" /><Relationship Type="http://schemas.openxmlformats.org/officeDocument/2006/relationships/notesSlide" Target="/ppt/notesSlides/notesSlide12.xml" Id="R747a91184a2248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5bc2fe0384f53" /><Relationship Type="http://schemas.openxmlformats.org/officeDocument/2006/relationships/image" Target="/ppt/media/image6.png" Id="R9f530f2eb52446be" /><Relationship Type="http://schemas.openxmlformats.org/officeDocument/2006/relationships/notesSlide" Target="/ppt/notesSlides/notesSlide13.xml" Id="R0b4a046434714e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f9b99fb5246b1" /><Relationship Type="http://schemas.openxmlformats.org/officeDocument/2006/relationships/notesSlide" Target="/ppt/notesSlides/notesSlide14.xml" Id="R76d754e4ce4a4e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914f2541b4c39" /><Relationship Type="http://schemas.openxmlformats.org/officeDocument/2006/relationships/notesSlide" Target="/ppt/notesSlides/notesSlide15.xml" Id="Red81adf345344e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61c4eadc44ba9" /><Relationship Type="http://schemas.openxmlformats.org/officeDocument/2006/relationships/notesSlide" Target="/ppt/notesSlides/notesSlide16.xml" Id="R1411702eddf042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8f48767714ff1" /><Relationship Type="http://schemas.openxmlformats.org/officeDocument/2006/relationships/notesSlide" Target="/ppt/notesSlides/notesSlide17.xml" Id="R9de90f6ff2c149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6f4e17af649df" /><Relationship Type="http://schemas.openxmlformats.org/officeDocument/2006/relationships/notesSlide" Target="/ppt/notesSlides/notesSlide18.xml" Id="R7b5a91cc25694b9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QC-pass / input (%)</c:v>
          </c:tx>
          <c:spPr>
            <a:solidFill xmlns:a="http://schemas.openxmlformats.org/drawingml/2006/main">
              <a:srgbClr val="087E8B"/>
            </a:solidFill>
          </c:spPr>
          <c:cat>
            <c:strRef>
              <c:f>'Chart Data'!$A$2:$A$11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80.64447</c:v>
                </c:pt>
                <c:pt idx="1">
                  <c:v>79.94429</c:v>
                </c:pt>
                <c:pt idx="2">
                  <c:v>35.78851</c:v>
                </c:pt>
                <c:pt idx="3">
                  <c:v>8.02087</c:v>
                </c:pt>
                <c:pt idx="4">
                  <c:v>94.49918</c:v>
                </c:pt>
                <c:pt idx="5">
                  <c:v>81.83637</c:v>
                </c:pt>
                <c:pt idx="6">
                  <c:v>93.02741</c:v>
                </c:pt>
                <c:pt idx="7">
                  <c:v>90.23987</c:v>
                </c:pt>
                <c:pt idx="8">
                  <c:v>89.90767</c:v>
                </c:pt>
                <c:pt idx="9">
                  <c:v>86.27358</c:v>
                </c:pt>
              </c:numCache>
            </c:numRef>
          </c:val>
        </c:ser>
        <c:ser>
          <c:idx val="1"/>
          <c:order val="1"/>
          <c:tx>
            <c:v>Putative doublets / QC (%)</c:v>
          </c:tx>
          <c:spPr>
            <a:solidFill xmlns:a="http://schemas.openxmlformats.org/drawingml/2006/main">
              <a:srgbClr val="C65050"/>
            </a:solidFill>
          </c:spPr>
          <c:cat>
            <c:strRef>
              <c:f>'Chart Data'!$C$2:$C$11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11.82853</c:v>
                </c:pt>
                <c:pt idx="1">
                  <c:v>10.30363</c:v>
                </c:pt>
                <c:pt idx="2">
                  <c:v>10.80421</c:v>
                </c:pt>
                <c:pt idx="3">
                  <c:v>12.11129</c:v>
                </c:pt>
                <c:pt idx="4">
                  <c:v>13.98784</c:v>
                </c:pt>
                <c:pt idx="5">
                  <c:v>7.54441</c:v>
                </c:pt>
                <c:pt idx="6">
                  <c:v>32.12975</c:v>
                </c:pt>
                <c:pt idx="7">
                  <c:v>22.3037</c:v>
                </c:pt>
                <c:pt idx="8">
                  <c:v>19.01558</c:v>
                </c:pt>
                <c:pt idx="9">
                  <c:v>21.60573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Library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Percent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Glutamatergic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18.09724</c:v>
                </c:pt>
                <c:pt idx="1">
                  <c:v>23.11321</c:v>
                </c:pt>
                <c:pt idx="2">
                  <c:v>3.93202</c:v>
                </c:pt>
                <c:pt idx="3">
                  <c:v>2.28119</c:v>
                </c:pt>
                <c:pt idx="4">
                  <c:v>9.62121</c:v>
                </c:pt>
                <c:pt idx="5">
                  <c:v>3.63027</c:v>
                </c:pt>
                <c:pt idx="6">
                  <c:v>7.82564</c:v>
                </c:pt>
                <c:pt idx="7">
                  <c:v>3.22454</c:v>
                </c:pt>
                <c:pt idx="8">
                  <c:v>12.68037</c:v>
                </c:pt>
                <c:pt idx="9">
                  <c:v>6.67917</c:v>
                </c:pt>
              </c:numCache>
            </c:numRef>
          </c:val>
        </c:ser>
        <c:ser>
          <c:idx val="1"/>
          <c:order val="1"/>
          <c:tx>
            <c:v>GABAergic</c:v>
          </c:tx>
          <c:spPr>
            <a:solidFill xmlns:a="http://schemas.openxmlformats.org/drawingml/2006/main">
              <a:srgbClr val="5367B4"/>
            </a:solidFill>
          </c:spPr>
          <c:cat>
            <c:strRef>
              <c:f>'Chart Data'!$C$2:$C$11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56.21248</c:v>
                </c:pt>
                <c:pt idx="1">
                  <c:v>46.92009</c:v>
                </c:pt>
                <c:pt idx="2">
                  <c:v>7.84963</c:v>
                </c:pt>
                <c:pt idx="3">
                  <c:v>17.08566</c:v>
                </c:pt>
                <c:pt idx="4">
                  <c:v>22.5</c:v>
                </c:pt>
                <c:pt idx="5">
                  <c:v>12.56408</c:v>
                </c:pt>
                <c:pt idx="6">
                  <c:v>14.89617</c:v>
                </c:pt>
                <c:pt idx="7">
                  <c:v>10.93197</c:v>
                </c:pt>
                <c:pt idx="8">
                  <c:v>13.29252</c:v>
                </c:pt>
                <c:pt idx="9">
                  <c:v>8.46028</c:v>
                </c:pt>
              </c:numCache>
            </c:numRef>
          </c:val>
        </c:ser>
        <c:ser>
          <c:idx val="2"/>
          <c:order val="2"/>
          <c:tx>
            <c:v>Immature neuron</c:v>
          </c:tx>
          <c:spPr>
            <a:solidFill xmlns:a="http://schemas.openxmlformats.org/drawingml/2006/main">
              <a:srgbClr val="A259A6"/>
            </a:solidFill>
          </c:spPr>
          <c:cat>
            <c:strRef>
              <c:f>'Chart Data'!$E$2:$E$11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Data'!$F$2:$F$11</c:f>
              <c:numCache>
                <c:formatCode>General</c:formatCode>
                <c:ptCount val="10"/>
                <c:pt idx="0">
                  <c:v>5.61224</c:v>
                </c:pt>
                <c:pt idx="1">
                  <c:v>9.101</c:v>
                </c:pt>
                <c:pt idx="2">
                  <c:v>11.95449</c:v>
                </c:pt>
                <c:pt idx="3">
                  <c:v>11.28957</c:v>
                </c:pt>
                <c:pt idx="4">
                  <c:v>6.16162</c:v>
                </c:pt>
                <c:pt idx="5">
                  <c:v>2.03759</c:v>
                </c:pt>
                <c:pt idx="6">
                  <c:v>4.12734</c:v>
                </c:pt>
                <c:pt idx="7">
                  <c:v>2.26111</c:v>
                </c:pt>
                <c:pt idx="8">
                  <c:v>1.74902</c:v>
                </c:pt>
                <c:pt idx="9">
                  <c:v>1.52332</c:v>
                </c:pt>
              </c:numCache>
            </c:numRef>
          </c:val>
        </c:ser>
        <c:ser>
          <c:idx val="3"/>
          <c:order val="3"/>
          <c:tx>
            <c:v>Astrocyte</c:v>
          </c:tx>
          <c:spPr>
            <a:solidFill xmlns:a="http://schemas.openxmlformats.org/drawingml/2006/main">
              <a:srgbClr val="00A896"/>
            </a:solidFill>
          </c:spPr>
          <c:cat>
            <c:strRef>
              <c:f>'Chart Data'!$G$2:$G$11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Data'!$H$2:$H$11</c:f>
              <c:numCache>
                <c:formatCode>General</c:formatCode>
                <c:ptCount val="10"/>
                <c:pt idx="0">
                  <c:v>2.0108</c:v>
                </c:pt>
                <c:pt idx="1">
                  <c:v>0.69367</c:v>
                </c:pt>
                <c:pt idx="2">
                  <c:v>1.98761</c:v>
                </c:pt>
                <c:pt idx="3">
                  <c:v>2.86313</c:v>
                </c:pt>
                <c:pt idx="4">
                  <c:v>8.13131</c:v>
                </c:pt>
                <c:pt idx="5">
                  <c:v>12.46413</c:v>
                </c:pt>
                <c:pt idx="6">
                  <c:v>12.2533</c:v>
                </c:pt>
                <c:pt idx="7">
                  <c:v>5.28903</c:v>
                </c:pt>
                <c:pt idx="8">
                  <c:v>10.36292</c:v>
                </c:pt>
                <c:pt idx="9">
                  <c:v>14.64729</c:v>
                </c:pt>
              </c:numCache>
            </c:numRef>
          </c:val>
        </c:ser>
        <c:ser>
          <c:idx val="4"/>
          <c:order val="4"/>
          <c:tx>
            <c:v>Progenitor</c:v>
          </c:tx>
          <c:spPr>
            <a:solidFill xmlns:a="http://schemas.openxmlformats.org/drawingml/2006/main">
              <a:srgbClr val="81B29A"/>
            </a:solidFill>
          </c:spPr>
          <c:cat>
            <c:strRef>
              <c:f>'Chart Data'!$I$2:$I$11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Data'!$J$2:$J$11</c:f>
              <c:numCache>
                <c:formatCode>General</c:formatCode>
                <c:ptCount val="10"/>
                <c:pt idx="0">
                  <c:v>9.994</c:v>
                </c:pt>
                <c:pt idx="1">
                  <c:v>13.20755</c:v>
                </c:pt>
                <c:pt idx="2">
                  <c:v>7.87844</c:v>
                </c:pt>
                <c:pt idx="3">
                  <c:v>10.19553</c:v>
                </c:pt>
                <c:pt idx="4">
                  <c:v>25.30303</c:v>
                </c:pt>
                <c:pt idx="5">
                  <c:v>7.72157</c:v>
                </c:pt>
                <c:pt idx="6">
                  <c:v>2.47984</c:v>
                </c:pt>
                <c:pt idx="7">
                  <c:v>0.6685</c:v>
                </c:pt>
                <c:pt idx="8">
                  <c:v>0.04373</c:v>
                </c:pt>
                <c:pt idx="9">
                  <c:v>0.25779</c:v>
                </c:pt>
              </c:numCache>
            </c:numRef>
          </c:val>
        </c:ser>
        <c:ser>
          <c:idx val="5"/>
          <c:order val="5"/>
          <c:tx>
            <c:v>OPC</c:v>
          </c:tx>
          <c:spPr>
            <a:solidFill xmlns:a="http://schemas.openxmlformats.org/drawingml/2006/main">
              <a:srgbClr val="70A0D5"/>
            </a:solidFill>
          </c:spPr>
          <c:cat>
            <c:strRef>
              <c:f>'Chart Data'!$K$2:$K$11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Data'!$L$2:$L$11</c:f>
              <c:numCache>
                <c:formatCode>General</c:formatCode>
                <c:ptCount val="10"/>
                <c:pt idx="0">
                  <c:v>2.91116</c:v>
                </c:pt>
                <c:pt idx="1">
                  <c:v>2.21976</c:v>
                </c:pt>
                <c:pt idx="2">
                  <c:v>2.3909</c:v>
                </c:pt>
                <c:pt idx="3">
                  <c:v>2.7933</c:v>
                </c:pt>
                <c:pt idx="4">
                  <c:v>10.02525</c:v>
                </c:pt>
                <c:pt idx="5">
                  <c:v>5.21649</c:v>
                </c:pt>
                <c:pt idx="6">
                  <c:v>5.06264</c:v>
                </c:pt>
                <c:pt idx="7">
                  <c:v>2.67401</c:v>
                </c:pt>
                <c:pt idx="8">
                  <c:v>9.18233</c:v>
                </c:pt>
                <c:pt idx="9">
                  <c:v>8.24936</c:v>
                </c:pt>
              </c:numCache>
            </c:numRef>
          </c:val>
        </c:ser>
        <c:ser>
          <c:idx val="6"/>
          <c:order val="6"/>
          <c:tx>
            <c:v>Oligodendrocyte</c:v>
          </c:tx>
          <c:spPr>
            <a:solidFill xmlns:a="http://schemas.openxmlformats.org/drawingml/2006/main">
              <a:srgbClr val="35638C"/>
            </a:solidFill>
          </c:spPr>
          <c:cat>
            <c:strRef>
              <c:f>'Chart Data'!$M$2:$M$11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Data'!$N$2:$N$11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0.18724</c:v>
                </c:pt>
                <c:pt idx="3">
                  <c:v>0.27933</c:v>
                </c:pt>
                <c:pt idx="4">
                  <c:v>0.07576</c:v>
                </c:pt>
                <c:pt idx="5">
                  <c:v>0.82858</c:v>
                </c:pt>
                <c:pt idx="6">
                  <c:v>1.02111</c:v>
                </c:pt>
                <c:pt idx="7">
                  <c:v>1.16005</c:v>
                </c:pt>
                <c:pt idx="8">
                  <c:v>6.68999</c:v>
                </c:pt>
                <c:pt idx="9">
                  <c:v>6.16358</c:v>
                </c:pt>
              </c:numCache>
            </c:numRef>
          </c:val>
        </c:ser>
        <c:ser>
          <c:idx val="7"/>
          <c:order val="7"/>
          <c:tx>
            <c:v>Microglia</c:v>
          </c:tx>
          <c:spPr>
            <a:solidFill xmlns:a="http://schemas.openxmlformats.org/drawingml/2006/main">
              <a:srgbClr val="A05A2C"/>
            </a:solidFill>
          </c:spPr>
          <c:cat>
            <c:strRef>
              <c:f>'Chart Data'!$O$2:$O$11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Data'!$P$2:$P$11</c:f>
              <c:numCache>
                <c:formatCode>General</c:formatCode>
                <c:ptCount val="10"/>
                <c:pt idx="0">
                  <c:v>1.14046</c:v>
                </c:pt>
                <c:pt idx="1">
                  <c:v>0.66593</c:v>
                </c:pt>
                <c:pt idx="2">
                  <c:v>2.11724</c:v>
                </c:pt>
                <c:pt idx="3">
                  <c:v>2.53724</c:v>
                </c:pt>
                <c:pt idx="4">
                  <c:v>2.95455</c:v>
                </c:pt>
                <c:pt idx="5">
                  <c:v>4.03327</c:v>
                </c:pt>
                <c:pt idx="6">
                  <c:v>2.19667</c:v>
                </c:pt>
                <c:pt idx="7">
                  <c:v>1.67125</c:v>
                </c:pt>
                <c:pt idx="8">
                  <c:v>11.93704</c:v>
                </c:pt>
                <c:pt idx="9">
                  <c:v>7.85095</c:v>
                </c:pt>
              </c:numCache>
            </c:numRef>
          </c:val>
        </c:ser>
        <c:ser>
          <c:idx val="8"/>
          <c:order val="8"/>
          <c:tx>
            <c:v>Ambiguous</c:v>
          </c:tx>
          <c:spPr>
            <a:solidFill xmlns:a="http://schemas.openxmlformats.org/drawingml/2006/main">
              <a:srgbClr val="C3C7CC"/>
            </a:solidFill>
          </c:spPr>
          <c:cat>
            <c:strRef>
              <c:f>'Chart Data'!$Q$2:$Q$11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Data'!$R$2:$R$11</c:f>
              <c:numCache>
                <c:formatCode>General</c:formatCode>
                <c:ptCount val="10"/>
                <c:pt idx="0">
                  <c:v>3.12125</c:v>
                </c:pt>
                <c:pt idx="1">
                  <c:v>2.83019</c:v>
                </c:pt>
                <c:pt idx="2">
                  <c:v>57.85683</c:v>
                </c:pt>
                <c:pt idx="3">
                  <c:v>45.92644</c:v>
                </c:pt>
                <c:pt idx="4">
                  <c:v>12.82828</c:v>
                </c:pt>
                <c:pt idx="5">
                  <c:v>47.28052</c:v>
                </c:pt>
                <c:pt idx="6">
                  <c:v>45.68389</c:v>
                </c:pt>
                <c:pt idx="7">
                  <c:v>70.25167</c:v>
                </c:pt>
                <c:pt idx="8">
                  <c:v>32.31307</c:v>
                </c:pt>
                <c:pt idx="9">
                  <c:v>43.07476</c:v>
                </c:pt>
              </c:numCache>
            </c:numRef>
          </c:val>
        </c:ser>
        <c:ser>
          <c:idx val="9"/>
          <c:order val="9"/>
          <c:tx>
            <c:v>Other non-neuronal</c:v>
          </c:tx>
          <c:spPr>
            <a:solidFill xmlns:a="http://schemas.openxmlformats.org/drawingml/2006/main">
              <a:srgbClr val="AA7B8B"/>
            </a:solidFill>
          </c:spPr>
          <c:cat>
            <c:strRef>
              <c:f>'Chart Data'!$S$2:$S$11</c:f>
              <c:strCache>
                <c:ptCount val="10"/>
                <c:pt idx="0">
                  <c:v>E18_1</c:v>
                </c:pt>
                <c:pt idx="1">
                  <c:v>E18_2</c:v>
                </c:pt>
                <c:pt idx="2">
                  <c:v>P0_1</c:v>
                </c:pt>
                <c:pt idx="3">
                  <c:v>P0_2</c:v>
                </c:pt>
                <c:pt idx="4">
                  <c:v>P0_3</c:v>
                </c:pt>
                <c:pt idx="5">
                  <c:v>P10_1</c:v>
                </c:pt>
                <c:pt idx="6">
                  <c:v>P10_2</c:v>
                </c:pt>
                <c:pt idx="7">
                  <c:v>P10s1</c:v>
                </c:pt>
                <c:pt idx="8">
                  <c:v>P21s1</c:v>
                </c:pt>
                <c:pt idx="9">
                  <c:v>P21s2</c:v>
                </c:pt>
              </c:strCache>
            </c:strRef>
          </c:cat>
          <c:val>
            <c:numRef>
              <c:f>'Chart Data'!$T$2:$T$11</c:f>
              <c:numCache>
                <c:formatCode>General</c:formatCode>
                <c:ptCount val="10"/>
                <c:pt idx="0">
                  <c:v>0.90036</c:v>
                </c:pt>
                <c:pt idx="1">
                  <c:v>1.24861</c:v>
                </c:pt>
                <c:pt idx="2">
                  <c:v>3.8456</c:v>
                </c:pt>
                <c:pt idx="3">
                  <c:v>4.7486</c:v>
                </c:pt>
                <c:pt idx="4">
                  <c:v>2.39899</c:v>
                </c:pt>
                <c:pt idx="5">
                  <c:v>4.22349</c:v>
                </c:pt>
                <c:pt idx="6">
                  <c:v>4.45341</c:v>
                </c:pt>
                <c:pt idx="7">
                  <c:v>1.86787</c:v>
                </c:pt>
                <c:pt idx="8">
                  <c:v>1.74902</c:v>
                </c:pt>
                <c:pt idx="9">
                  <c:v>3.09351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Library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Retained barcodes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New source</c:v>
          </c:tx>
          <c:spPr>
            <a:solidFill xmlns:a="http://schemas.openxmlformats.org/drawingml/2006/main">
              <a:srgbClr val="087E8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9.38174</c:v>
                </c:pt>
                <c:pt idx="1">
                  <c:v>8.78173</c:v>
                </c:pt>
                <c:pt idx="2">
                  <c:v>9.59217</c:v>
                </c:pt>
                <c:pt idx="3">
                  <c:v>9.47727</c:v>
                </c:pt>
                <c:pt idx="4">
                  <c:v>7.36191</c:v>
                </c:pt>
                <c:pt idx="5">
                  <c:v>7.16015</c:v>
                </c:pt>
                <c:pt idx="6">
                  <c:v>7.50281</c:v>
                </c:pt>
              </c:numCache>
            </c:numRef>
          </c:yVal>
        </c:ser>
        <c:ser>
          <c:idx val="1"/>
          <c:order val="1"/>
          <c:tx>
            <c:v>Previous source</c:v>
          </c:tx>
          <c:spPr>
            <a:solidFill xmlns:a="http://schemas.openxmlformats.org/drawingml/2006/main">
              <a:srgbClr val="C65050"/>
            </a:solidFill>
            <a:ln xmlns:a="http://schemas.openxmlformats.org/drawingml/2006/main" w="0">
              <a:noFill/>
            </a:ln>
          </c:spPr>
          <c:marker>
            <c:symbol val="square"/>
            <c:size val="8"/>
            <c:spPr>
              <a:noFill xmlns:a="http://schemas.openxmlformats.org/drawingml/2006/main"/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9.14237</c:v>
                </c:pt>
                <c:pt idx="1">
                  <c:v>9.00034</c:v>
                </c:pt>
                <c:pt idx="2">
                  <c:v>9.00413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"/>
          <c:min val="-1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log2(CPM + 0.5)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1 E18 · 2 P0 · 3 P10 · 4 P21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New source</c:v>
          </c:tx>
          <c:spPr>
            <a:solidFill xmlns:a="http://schemas.openxmlformats.org/drawingml/2006/main">
              <a:srgbClr val="087E8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9.04822</c:v>
                </c:pt>
                <c:pt idx="1">
                  <c:v>8.35634</c:v>
                </c:pt>
                <c:pt idx="2">
                  <c:v>9.21217</c:v>
                </c:pt>
                <c:pt idx="3">
                  <c:v>9.34503</c:v>
                </c:pt>
                <c:pt idx="4">
                  <c:v>7.28362</c:v>
                </c:pt>
                <c:pt idx="5">
                  <c:v>7.50191</c:v>
                </c:pt>
                <c:pt idx="6">
                  <c:v>7.85452</c:v>
                </c:pt>
              </c:numCache>
            </c:numRef>
          </c:yVal>
        </c:ser>
        <c:ser>
          <c:idx val="1"/>
          <c:order val="1"/>
          <c:tx>
            <c:v>Previous source</c:v>
          </c:tx>
          <c:spPr>
            <a:solidFill xmlns:a="http://schemas.openxmlformats.org/drawingml/2006/main">
              <a:srgbClr val="C65050"/>
            </a:solidFill>
            <a:ln xmlns:a="http://schemas.openxmlformats.org/drawingml/2006/main" w="0">
              <a:noFill/>
            </a:ln>
          </c:spPr>
          <c:marker>
            <c:symbol val="square"/>
            <c:size val="8"/>
            <c:spPr>
              <a:noFill xmlns:a="http://schemas.openxmlformats.org/drawingml/2006/main"/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8.81299</c:v>
                </c:pt>
                <c:pt idx="1">
                  <c:v>8.68277</c:v>
                </c:pt>
                <c:pt idx="2">
                  <c:v>8.94227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"/>
          <c:min val="-1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log2(CPM + 0.5)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1 E18 · 2 P0 · 3 P10 · 4 P21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New source</c:v>
          </c:tx>
          <c:spPr>
            <a:solidFill xmlns:a="http://schemas.openxmlformats.org/drawingml/2006/main">
              <a:srgbClr val="087E8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8.5534</c:v>
                </c:pt>
                <c:pt idx="1">
                  <c:v>7.69963</c:v>
                </c:pt>
                <c:pt idx="2">
                  <c:v>9.15559</c:v>
                </c:pt>
                <c:pt idx="3">
                  <c:v>9.27776</c:v>
                </c:pt>
                <c:pt idx="4">
                  <c:v>6.26682</c:v>
                </c:pt>
                <c:pt idx="5">
                  <c:v>5.42602</c:v>
                </c:pt>
                <c:pt idx="6">
                  <c:v>5.62652</c:v>
                </c:pt>
              </c:numCache>
            </c:numRef>
          </c:yVal>
        </c:ser>
        <c:ser>
          <c:idx val="1"/>
          <c:order val="1"/>
          <c:tx>
            <c:v>Previous source</c:v>
          </c:tx>
          <c:spPr>
            <a:solidFill xmlns:a="http://schemas.openxmlformats.org/drawingml/2006/main">
              <a:srgbClr val="C65050"/>
            </a:solidFill>
            <a:ln xmlns:a="http://schemas.openxmlformats.org/drawingml/2006/main" w="0">
              <a:noFill/>
            </a:ln>
          </c:spPr>
          <c:marker>
            <c:symbol val="square"/>
            <c:size val="8"/>
            <c:spPr>
              <a:noFill xmlns:a="http://schemas.openxmlformats.org/drawingml/2006/main"/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8.90407</c:v>
                </c:pt>
                <c:pt idx="1">
                  <c:v>8.39471</c:v>
                </c:pt>
                <c:pt idx="2">
                  <c:v>8.69039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"/>
          <c:min val="-1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log2(CPM + 0.5)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3449"/>
                    </a:solidFill>
                    <a:latin typeface="Arial"/>
                    <a:ea typeface="Arial"/>
                    <a:cs typeface="Arial"/>
                  </a:rPr>
                  <a:t>1 E18 · 2 P0 · 3 P10 · 4 P21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344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F813D-257E-411F-9261-68BE3E09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Developmental amygdala scRNA-seq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52EA1-6319-4284-BB4E-329DF99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E18 · P0 · P10 · P21 — an exploratory update for Wei-Ming Kao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5FCAA-546A-4FD7-8736-5E9A56D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53889-1B59-4618-B699-1F51B6A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02E71-6718-428D-B711-D2A2D5D2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What changes when the early libraries are added?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ED188-0503-4463-92D6-463AC97C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76,446 putative singlets</a:t>
            </a:r>
          </a:p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10 libraries across four stages</a:t>
            </a:r>
          </a:p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25,029 shared genes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24A9E-4BE2-4300-9A2A-ACD6326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Population inventory</a:t>
            </a:r>
          </a:p>
          <a:p xmlns:a="http://schemas.openxmlformats.org/drawingml/2006/main">
            <a:pPr>
              <a:defRPr sz="2250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P10 transcription factors</a:t>
            </a:r>
          </a:p>
          <a:p xmlns:a="http://schemas.openxmlformats.org/drawingml/2006/main">
            <a:pPr>
              <a:defRPr sz="2250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Guidance / remodelling 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6C69D-E205-4A56-900C-C6A4FE4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This dataset can generate testable candidates. It cannot explain a MEF2C-KO projection phenotype by itself.</a:t>
            </a:r>
          </a:p>
        </p:txBody>
      </p:sp>
    </p:spTree>
    <p:extLst>
      <p:ext uri="{BB962C8B-B14F-4D97-AF65-F5344CB8AC3E}">
        <p14:creationId xmlns:p14="http://schemas.microsoft.com/office/powerpoint/2010/main" val="728568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9A981-F92F-4D88-83A7-DB78984B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What is in the combined dataset?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3C649-501A-4BDC-9CC6-38120B2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Seven new libraries + three previous P10/P21 libraries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2D819-1020-4766-AB00-98AA528B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006CF-F81A-4224-B453-78AD6010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1200150"/>
                <a:gridCol w="1714500"/>
                <a:gridCol w="1714500"/>
                <a:gridCol w="1714500"/>
                <a:gridCol w="2400300"/>
              </a:tblGrid>
              <a:tr h="37060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QC-pass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Putative singlets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E18_1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4,686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3,779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3,332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E18_2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5,026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4,018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3,604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21,750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7,784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6,943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60,941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4,888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4,296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P0_3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4,872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4,604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3,960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P10_1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40,994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33,548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31,017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P10_2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New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18,458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17,171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11,654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P10s1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Previous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7,254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6,546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5,086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P21s1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Previous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3,141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2,824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2,287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7060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P21s2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Previous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6,309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5,443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4,267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83457-A45F-4A07-9EAA-06246D01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Shared-gene analysis avoids treating the 7,256 new-only genes as absent in old samples.</a:t>
            </a:r>
          </a:p>
        </p:txBody>
      </p:sp>
    </p:spTree>
    <p:extLst>
      <p:ext uri="{BB962C8B-B14F-4D97-AF65-F5344CB8AC3E}">
        <p14:creationId xmlns:p14="http://schemas.microsoft.com/office/powerpoint/2010/main" val="1327669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B17AE-CFB0-4175-9BEB-5FF2C7E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QC is a major source of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39824-26EC-4472-AA4B-17681D5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Simple QC retention and classifier-labelled doublets — separate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73C26-FF7F-4AC4-B3C6-BC4B8D3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A4051-5C18-48D9-99BB-68D1566A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0550" y="17907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91fea51b9a46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5765B-080C-4C3A-9142-F550898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P0_2: only 8.0% pass QC. P10_2: 32.1% putative doublets. Old/new mitochondrial capture differs sharply.</a:t>
            </a:r>
          </a:p>
        </p:txBody>
      </p:sp>
    </p:spTree>
    <p:extLst>
      <p:ext uri="{BB962C8B-B14F-4D97-AF65-F5344CB8AC3E}">
        <p14:creationId xmlns:p14="http://schemas.microsoft.com/office/powerpoint/2010/main" val="2067695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72E53-0040-4B57-8C7A-182F3E9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A broad map, not a cell-type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0103F-A96B-4F52-9AF2-BB0ADDC2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Both uncorrected and source-corrected UMAPs are preserved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429F4-7176-482A-8BA1-46CC24D9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92359-080E-4AD7-BB08-98AF877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079ae1b8c4c80"/>
          <a:stretch xmlns:a="http://schemas.openxmlformats.org/drawingml/2006/main"/>
        </p:blipFill>
        <p:spPr>
          <a:xfrm xmlns:a="http://schemas.openxmlformats.org/drawingml/2006/main">
            <a:off x="953379" y="1752600"/>
            <a:ext cx="10285242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DC102-A85F-4BA2-9A02-C7B4DCE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Labels use excluded markers and reference checks. Ambiguous cells remain visible; fine developmental identities are provisional.</a:t>
            </a:r>
          </a:p>
        </p:txBody>
      </p:sp>
    </p:spTree>
    <p:extLst>
      <p:ext uri="{BB962C8B-B14F-4D97-AF65-F5344CB8AC3E}">
        <p14:creationId xmlns:p14="http://schemas.microsoft.com/office/powerpoint/2010/main" val="1334881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7FC7C-4EC2-41B7-9736-37831C8F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Stage and source are partly confounded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2E50F-C520-4FA5-971E-6702E51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P10 overlaps sources; P21 exists only in the previous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55A11-5C49-4541-B9C6-56B6ECD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7CC97-4E2C-49FD-A8C5-7DF2281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59fe600cc4ef7"/>
          <a:stretch xmlns:a="http://schemas.openxmlformats.org/drawingml/2006/main"/>
        </p:blipFill>
        <p:spPr>
          <a:xfrm xmlns:a="http://schemas.openxmlformats.org/drawingml/2006/main">
            <a:off x="1226581" y="1752600"/>
            <a:ext cx="9738838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6915D-6BDB-4018-87BE-0CCD78D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Harmony is for visualization only. All expression calculations use unchanged, uncorrected RNA counts.</a:t>
            </a:r>
          </a:p>
        </p:txBody>
      </p:sp>
    </p:spTree>
    <p:extLst>
      <p:ext uri="{BB962C8B-B14F-4D97-AF65-F5344CB8AC3E}">
        <p14:creationId xmlns:p14="http://schemas.microsoft.com/office/powerpoint/2010/main" val="178541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A8E6-627F-4CBB-873D-6F36FA2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Captured populations differ by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63D15-BC5D-43D9-8B2D-0A2963CD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Fractions of retained barcodes — not proportions in intact tissue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94907-DF3F-4388-8CAA-F965119A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FCBF0-572F-4D0C-B785-12B82D07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10109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f01d729328408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9F1DA-4D87-4B1D-BDDF-F0D1553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Library capture, depth, ambiguous labels and doublet selection prevent a definitive developmental cell census.</a:t>
            </a:r>
          </a:p>
        </p:txBody>
      </p:sp>
    </p:spTree>
    <p:extLst>
      <p:ext uri="{BB962C8B-B14F-4D97-AF65-F5344CB8AC3E}">
        <p14:creationId xmlns:p14="http://schemas.microsoft.com/office/powerpoint/2010/main" val="2118295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18302-3434-4840-B437-2F6C89C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Annotation checks expose unresolved cells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71122-8B4F-4A25-B59C-40B947A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The adult-atlas-only baseline did not validate well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3CC0C-DE7D-4D2B-A6AA-ADEA544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2BB1E-E4D7-4263-8DCF-8A7E1E7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91862"/>
                <a:gridCol w="3405352"/>
                <a:gridCol w="3405352"/>
                <a:gridCol w="2270234"/>
              </a:tblGrid>
              <a:tr h="33943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Adult atlas / marker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Previous broad split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Ambiguous (QC %)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E18_1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6.6%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75.0%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2.8%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E18_2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3.8%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74.7%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2.5%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10.9%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67.3%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55.0%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15.6%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72.3%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44.0%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P0_3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22.3%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84.3%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11.9%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P10_1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25.8%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59.1%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45.1%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P10_2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25.8%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60.2%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39.5%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P10s1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35.4%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94.7%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67.1%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P21s1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58.3%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97.2%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30.0%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3394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P21s2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56.2%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95.9%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98B9F-44E1-4953-9A6A-EFDD206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Broad marker-supported assignments are useful candidates. Novel or low-depth identities require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259363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59BE5-705A-4B10-8F69-97C67468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Mef2c expression: library-level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AC27-0A66-43B0-8AB5-4F59D34A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Each dot is one library; old and new P10 are shown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877B-44D1-48C3-B623-EB474CC5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439D8-B135-4506-87C3-8660854B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9CCB2-9D84-4EFC-A433-821C121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71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Glutamatergic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209800"/>
          <a:ext xmlns:a="http://schemas.openxmlformats.org/drawingml/2006/main" cx="3571875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ccd6ef1b649b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479EE-BFBF-4323-9FC8-2841879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71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GABAergic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333875" y="2209800"/>
          <a:ext xmlns:a="http://schemas.openxmlformats.org/drawingml/2006/main" cx="3571875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c579aab35949e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D241E-5466-47C8-BD68-B231475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71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ITC-like GABA*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077200" y="2209800"/>
          <a:ext xmlns:a="http://schemas.openxmlformats.org/drawingml/2006/main" cx="3571875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2d6cfe7b8d47a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406D-23C6-4599-9926-4AE8D169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*ITC-like identity is provisional and not spatially verified. Similar expression does not imply similar MEF2C function.</a:t>
            </a:r>
          </a:p>
        </p:txBody>
      </p:sp>
    </p:spTree>
    <p:extLst>
      <p:ext uri="{BB962C8B-B14F-4D97-AF65-F5344CB8AC3E}">
        <p14:creationId xmlns:p14="http://schemas.microsoft.com/office/powerpoint/2010/main" val="859260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674B-1A7A-4A3F-964B-D00B235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P10 transcription-factor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24D26-D822-4F77-9C60-7B461627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A candidate screen, not TF activity or a causal target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C2CEC-28EE-4996-A89D-CA474616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7BF9E-A6E2-4AB6-AF9E-6A64334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c299fb6614d39"/>
          <a:stretch xmlns:a="http://schemas.openxmlformats.org/drawingml/2006/main"/>
        </p:blipFill>
        <p:spPr>
          <a:xfrm xmlns:a="http://schemas.openxmlformats.org/drawingml/2006/main">
            <a:off x="609600" y="2043444"/>
            <a:ext cx="10972800" cy="33616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2E617-8093-46B1-A6F5-577CE17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Use cell identity + candidate availability to plan experiments; verify protein, location and genotype-specific regulation.</a:t>
            </a:r>
          </a:p>
        </p:txBody>
      </p:sp>
    </p:spTree>
    <p:extLst>
      <p:ext uri="{BB962C8B-B14F-4D97-AF65-F5344CB8AC3E}">
        <p14:creationId xmlns:p14="http://schemas.microsoft.com/office/powerpoint/2010/main" val="311969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1EAB-49BA-488F-9E1B-63DB4A4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Guidance and adhesion candidates across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4EE4F-E62C-40E2-AA64-2564842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Sema3e · Plxnd1/Nrp1 · Kirrel3 · cadherins · Slit/Robo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D61E3-4702-45DF-89EE-9AE1DCC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F277C-C149-4BAF-AEA9-3FE48AF5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1c6c504674330"/>
          <a:stretch xmlns:a="http://schemas.openxmlformats.org/drawingml/2006/main"/>
        </p:blipFill>
        <p:spPr>
          <a:xfrm xmlns:a="http://schemas.openxmlformats.org/drawingml/2006/main">
            <a:off x="1609271" y="1685925"/>
            <a:ext cx="8973458" cy="4057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CE726-4D17-412C-80AA-094432E8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Expression nominates components. Functional cue response and the projecting cortical cell must be tested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429552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9379C-93E9-4CB5-946F-191FC818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Synapse-remodelling and glial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4B83B-D64B-42DC-B7A8-20F075B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MEF2-associated activity genes and engulfment/complement machinery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865D2-A49A-493B-8CFF-B71AE1E1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36C1-0E97-4837-A22B-68343C8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a8df6b3c14073"/>
          <a:stretch xmlns:a="http://schemas.openxmlformats.org/drawingml/2006/main"/>
        </p:blipFill>
        <p:spPr>
          <a:xfrm xmlns:a="http://schemas.openxmlformats.org/drawingml/2006/main">
            <a:off x="1877628" y="1685925"/>
            <a:ext cx="8436744" cy="4057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F4271-E8CF-4903-BCE1-DF450AB8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These observations do not distinguish retained axon branches, additional synapses, altered tracer labeling or changed cortical cell identity.</a:t>
            </a:r>
          </a:p>
        </p:txBody>
      </p:sp>
    </p:spTree>
    <p:extLst>
      <p:ext uri="{BB962C8B-B14F-4D97-AF65-F5344CB8AC3E}">
        <p14:creationId xmlns:p14="http://schemas.microsoft.com/office/powerpoint/2010/main" val="1911239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C98BC-348F-4757-8494-B6FD9567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Cortical context is external adult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6D17A-23A6-4F90-A19C-EC7E76A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The new experiment samples amygdala, not the projecting cortex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15AEA-67D6-4798-BF83-2227959F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79BC-43F7-4224-83F0-C8FFD09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9347"/>
                <a:gridCol w="2911151"/>
                <a:gridCol w="2911151"/>
                <a:gridCol w="2911151"/>
              </a:tblGrid>
              <a:tr h="46264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Gene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L2/3 IT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Detection %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L4/5 IT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Detection %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L5 ET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Detection %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Kirrel3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89.9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73.0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99.1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Plxnd1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24.8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50.0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7.1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Nrp1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45.7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34.0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75.0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Nrp2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not available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not available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not available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Sdk2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52.1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44.6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91.0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Robo1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98.6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91.4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99.9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7642B-0A8B-4B23-B2DB-DD70F9E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Do not claim Plxnd1 is exclusive to one cortical class, or that Nrp1-negative RNA means a repulsive receptor state.</a:t>
            </a:r>
          </a:p>
        </p:txBody>
      </p:sp>
    </p:spTree>
    <p:extLst>
      <p:ext uri="{BB962C8B-B14F-4D97-AF65-F5344CB8AC3E}">
        <p14:creationId xmlns:p14="http://schemas.microsoft.com/office/powerpoint/2010/main" val="18517327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E440F-42C4-4ECB-8ED8-B8203795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P10–P21 directions must survive source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ADA3-FAAA-4F86-8653-51988E2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True pseudobulk CPM ratios; mito and putative-doublet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ED5A6-0878-4080-B6D9-A4575882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E3C44-3521-4043-89A5-1CFC8FA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30f2eb52446be"/>
          <a:stretch xmlns:a="http://schemas.openxmlformats.org/drawingml/2006/main"/>
        </p:blipFill>
        <p:spPr>
          <a:xfrm xmlns:a="http://schemas.openxmlformats.org/drawingml/2006/main">
            <a:off x="571500" y="1769868"/>
            <a:ext cx="11049000" cy="385166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A73B1-4A0E-4E26-9734-71478AE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A consistent direction is stronger descriptive evidence, but P21-only-old-source confounding and unknown animal n remain.</a:t>
            </a:r>
          </a:p>
        </p:txBody>
      </p:sp>
    </p:spTree>
    <p:extLst>
      <p:ext uri="{BB962C8B-B14F-4D97-AF65-F5344CB8AC3E}">
        <p14:creationId xmlns:p14="http://schemas.microsoft.com/office/powerpoint/2010/main" val="2345866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B1E01-2D9F-459C-89FC-7294B37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Core hypotheses: consistent and unstable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5F91F-1211-4BD9-AC24-683BD31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Prespecified genes shown whether they pass or fail the sensitivity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1170C-8AA9-4E2C-A613-15A103B3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5E37C-CDDD-4AF2-BD7D-F5DDA7A4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3574"/>
                <a:gridCol w="2123768"/>
                <a:gridCol w="2123768"/>
                <a:gridCol w="2831690"/>
              </a:tblGrid>
              <a:tr h="4429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Gene / population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Old P10 / P21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log2 ratio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P10 / P21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log2 ratio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All direction checks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Mef2c — Glut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-0.07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0.46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Mixed / unstable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Mef2c — GABA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0.19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0.53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Consistent direction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Pcdh10 — Glut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0.64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1.31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Consistent direction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Kirrel3 — ITC-like GABA*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0.43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-0.41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Mixed / unstable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Sema3e — Glut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0.52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0.04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Mixed / unstable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Plxnd1 — ITC-like GABA*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2.37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2.79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Consistent direction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Nrp1 — Glut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0.57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-0.01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Mixed / unstable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99696-FD54-4026-90AF-D22D7B3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Pcdh10 is direction-consistent. Kirrel3 ITC-like change reverses by source. Neither observation is a KO result.</a:t>
            </a:r>
          </a:p>
        </p:txBody>
      </p:sp>
    </p:spTree>
    <p:extLst>
      <p:ext uri="{BB962C8B-B14F-4D97-AF65-F5344CB8AC3E}">
        <p14:creationId xmlns:p14="http://schemas.microsoft.com/office/powerpoint/2010/main" val="15162581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E3824-82F5-48F0-AF5D-28222F1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Three scenarios remain plausible — not established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4378-ADA4-447D-867F-6B08E1E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More cortical labeling in BLA can have several explanations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0E04-2613-4784-8502-91CDDAB4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5774E-966E-49A1-B67E-510C471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8348"/>
                <a:gridCol w="3597639"/>
                <a:gridCol w="4856813"/>
              </a:tblGrid>
              <a:tr h="8524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components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Decisive independent test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8524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Retained branches / synapses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MEF2 activity pathway, Pcdh10;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glial engulfment machinery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Sparse axons at several ages +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boutons/synapses, normalized to cortical labeling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8524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Altered cue response / matching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Sema3e–Plxnd1/Nrp1,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Kirrel3, cadherins, Slit/Robo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KO/WT projecting cortical neurons;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protein/cue-response and rescue tests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8524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Cell identity / labeling difference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Cortical fate, survival, reporter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expression or tracer uptake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Count labeled cortical neurons;</a:t>
                      </a:r>
                    </a:p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match layer/type, injection and survival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5F34E-7EA5-40BA-BBF4-BDD43D9D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BLA RNA availability helps choose a test. It cannot decide which scenario caused the projection phenotype.</a:t>
            </a:r>
          </a:p>
        </p:txBody>
      </p:sp>
    </p:spTree>
    <p:extLst>
      <p:ext uri="{BB962C8B-B14F-4D97-AF65-F5344CB8AC3E}">
        <p14:creationId xmlns:p14="http://schemas.microsoft.com/office/powerpoint/2010/main" val="1654476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DCDC5-2A45-4956-9E2B-28DD528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A practical follow-up for the wiring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C56D7-63F1-4AE2-BE86-11006C0D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Prioritize measurements that distinguish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0BC2A-789B-4A9E-929A-BC60B988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A5929-C49A-4E11-BA2A-4063A486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44FF6-34C8-47EE-A48B-27BEAF2B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1. Establish the anatomical phenotype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D5568-2F1B-4D98-93A9-994196A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Same-age KO/WT; normalize axon signal to cortical labeling and injection.</a:t>
            </a:r>
          </a:p>
          <a:p xmlns:a="http://schemas.openxmlformats.org/drawingml/2006/main">
            <a:pPr>
              <a:defRPr sz="187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Separate axon branches, boutons, synapses and reporter intensity.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E37C-6DFD-4961-BB00-31BFF78E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2. Identify both sides of the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BB1DC-4520-4EBA-8771-0F116119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Spatially validate P10 candidate BLA / ITC-like cells; profile or label</a:t>
            </a:r>
          </a:p>
          <a:p xmlns:a="http://schemas.openxmlformats.org/drawingml/2006/main">
            <a:pPr>
              <a:defRPr sz="187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the actual cortical projection neurons rather than using adult atlas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B2EC6-C700-4285-8524-3808418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3. Test one candidate mechanism with a rescue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9079F-FD1D-444D-BCB2-6CCD8005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Choose guidance/matching versus branch retention only after these checks.</a:t>
            </a:r>
          </a:p>
        </p:txBody>
      </p:sp>
    </p:spTree>
    <p:extLst>
      <p:ext uri="{BB962C8B-B14F-4D97-AF65-F5344CB8AC3E}">
        <p14:creationId xmlns:p14="http://schemas.microsoft.com/office/powerpoint/2010/main" val="15799420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B0385-5AF9-404A-BFC2-04953870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Reproducible pipeline and data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64F47-FB3D-40C5-8078-BB909A5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Original inputs are preserved; all important decisions are documented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B847-12E9-4001-A9BF-3BC18474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30C53-061A-4D5B-A6B1-5A06337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8123"/>
                <a:gridCol w="4642338"/>
                <a:gridCol w="4642338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Saved evidence</a:t>
                      </a:r>
                    </a:p>
                  </a:txBody>
                  <a:tcPr marL="95250" marR="95250" marT="19050" marB="19050">
                    <a:solidFill>
                      <a:srgbClr val="17344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00 / 01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Input audit → shared-gene QC → putative doublets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Manifest, QC, barcode check, classifier calls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02 / 03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Marker/reference checks → two maps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Predictions, ambiguous labels, RNA integrity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04 / 05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Library pseudobulk → sensitivity → figures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CPM, detection, TF/candidate tables</a:t>
                      </a:r>
                    </a:p>
                  </a:txBody>
                  <a:tcPr marL="95250" marR="95250" marT="19050" marB="1905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PowerPoint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Editable charts/tables + scientific plots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Arial"/>
                          <a:ea typeface="Arial"/>
                          <a:cs typeface="Arial"/>
                        </a:rPr>
                        <a:t>Builder, source JSON, rendered/validated deck</a:t>
                      </a:r>
                    </a:p>
                  </a:txBody>
                  <a:tcPr marL="95250" marR="95250" marT="19050" marB="1905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EB9AD-1BA1-437B-ACCE-756F0665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Start: read analysis_development_v2/README.md. Load the processed object with readRDS(); use RNA counts for reanalysis.</a:t>
            </a:r>
          </a:p>
        </p:txBody>
      </p:sp>
    </p:spTree>
    <p:extLst>
      <p:ext uri="{BB962C8B-B14F-4D97-AF65-F5344CB8AC3E}">
        <p14:creationId xmlns:p14="http://schemas.microsoft.com/office/powerpoint/2010/main" val="5354125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0D07C-4E63-4B7A-A443-64EEDB3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49"/>
                </a:solidFill>
                <a:latin typeface="Arial"/>
                <a:ea typeface="Arial"/>
                <a:cs typeface="Arial"/>
              </a:rPr>
              <a:t>Bottom line for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B2AE-CFE1-4FFB-A263-CFA8FC2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A useful developmental resource — with explicit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A7EDC-61D1-410E-9CAF-6B5AF2B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Hansol Lim • Developmental amygdala scRNA-seq • 06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E0544-D4C6-49D7-9CAF-0F6C11A2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D680A-21E4-42EC-939E-C3EC5729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Available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D6AF-CF50-48F2-BBC7-7932406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619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Four-stage maps and provisional populations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P10 TF and candidate-gene expression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Per-library P10/P21 source/QC checks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Reproducible R/Python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F69F-AFD3-40EC-A2B4-FEF420F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650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65050"/>
                </a:solidFill>
                <a:latin typeface="Arial"/>
                <a:ea typeface="Arial"/>
                <a:cs typeface="Arial"/>
              </a:rPr>
              <a:t>Not established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B4955-B861-448C-A769-A7A82418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652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MEF2C KO transcriptional changes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Direct MEF2 targets or TF activity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Cortical axon pruning / cue switching</a:t>
            </a:r>
          </a:p>
          <a:p xmlns:a="http://schemas.openxmlformats.org/drawingml/2006/main">
            <a:pPr>
              <a:defRPr sz="2025" b="0">
                <a:solidFill>
                  <a:srgbClr val="1734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9"/>
                </a:solidFill>
                <a:latin typeface="Arial"/>
                <a:ea typeface="Arial"/>
                <a:cs typeface="Arial"/>
              </a:rPr>
              <a:t>Definitive developmental tissue fractions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F1195-F9F9-4E60-AABB-ADF0A6D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The strongest next step is matched KO/WT projection-neuron data plus anatomical validation, not a causal claim from UMAP.</a:t>
            </a:r>
          </a:p>
        </p:txBody>
      </p:sp>
    </p:spTree>
    <p:extLst>
      <p:ext uri="{BB962C8B-B14F-4D97-AF65-F5344CB8AC3E}">
        <p14:creationId xmlns:p14="http://schemas.microsoft.com/office/powerpoint/2010/main" val="1269582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2026-10-06T15:57:24.6110000Z</dcterms:created>
  <dcterms:modified xsi:type="dcterms:W3CDTF">2026-10-06T15:57:24.6110000Z</dcterms:modified>
</coreProperties>
</file>